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383291" cy="51435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021" y="1985963"/>
            <a:ext cx="857250" cy="857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10323" y="3028950"/>
            <a:ext cx="116264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3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STRATEGY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0" y="5072063"/>
            <a:ext cx="3383291" cy="7143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3"/>
          <p:cNvSpPr/>
          <p:nvPr/>
        </p:nvSpPr>
        <p:spPr>
          <a:xfrm>
            <a:off x="3726191" y="1587782"/>
            <a:ext cx="5074909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118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Telco Customer Churn Analysis</a:t>
            </a:r>
            <a:endParaRPr lang="en-US" sz="3300" dirty="0"/>
          </a:p>
        </p:txBody>
      </p:sp>
      <p:sp>
        <p:nvSpPr>
          <p:cNvPr id="8" name="Text 4"/>
          <p:cNvSpPr/>
          <p:nvPr/>
        </p:nvSpPr>
        <p:spPr>
          <a:xfrm>
            <a:off x="3726191" y="2911915"/>
            <a:ext cx="507490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891B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Strategic Insights for Customer Retention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3726191" y="3404834"/>
            <a:ext cx="5074909" cy="7429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3726191" y="3404834"/>
            <a:ext cx="5074909" cy="14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7"/>
          <p:cNvSpPr/>
          <p:nvPr/>
        </p:nvSpPr>
        <p:spPr>
          <a:xfrm>
            <a:off x="3726191" y="3554853"/>
            <a:ext cx="507490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Khusi Khanra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726191" y="3819172"/>
            <a:ext cx="507490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Intelligence &amp; Automation Consultant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191" y="4013839"/>
            <a:ext cx="110728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36919" y="4003123"/>
            <a:ext cx="68937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khusikhanra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Text 1"/>
          <p:cNvSpPr/>
          <p:nvPr/>
        </p:nvSpPr>
        <p:spPr>
          <a:xfrm>
            <a:off x="646509" y="1744163"/>
            <a:ext cx="2135981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0891B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25-95%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285750" y="2512116"/>
            <a:ext cx="28575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Increase in profitability with just a 5% reduction in churn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17079" y="3277893"/>
            <a:ext cx="159484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Harvard Business Review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000500" y="858366"/>
            <a:ext cx="4572000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118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Churn: A Critical Challenge for Telecom Growth</a:t>
            </a:r>
            <a:endParaRPr lang="en-US" sz="2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2423154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14825" y="2378506"/>
            <a:ext cx="42576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314825" y="2624965"/>
            <a:ext cx="42576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customer churn directly impacts revenue and significantly increases customer acquisition costs (CAC).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3259643"/>
            <a:ext cx="214313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7688" y="3214994"/>
            <a:ext cx="421481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Industry Context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357688" y="3461454"/>
            <a:ext cx="421481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telecom sector faces fierce competition, making retention more cost-effective than acquiring new users.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4096131"/>
            <a:ext cx="171450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314825" y="4051483"/>
            <a:ext cx="42576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Strategic Objective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314825" y="4297942"/>
            <a:ext cx="42576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primary churn drivers and develop data-driven strategies to improve customer loyalty and lifetime value.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531316"/>
            <a:ext cx="268605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Data Foundation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71500" y="1571625"/>
            <a:ext cx="8001000" cy="24288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Holistic View of 7,043 Unique Customers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1500" y="2100263"/>
            <a:ext cx="428625" cy="428625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7" y="2214563"/>
            <a:ext cx="250031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100263"/>
            <a:ext cx="328612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143000" y="2362795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Gender, age range (senior citizens), and family status including partners and dependents.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714875" y="2100263"/>
            <a:ext cx="428625" cy="428625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75" y="2214563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86375" y="2100263"/>
            <a:ext cx="328612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286375" y="2362795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Phone, multiple lines, internet (DSL/Fiber), online security, backup, and streaming.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71500" y="3014272"/>
            <a:ext cx="428625" cy="428625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03" y="3128572"/>
            <a:ext cx="150019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014272"/>
            <a:ext cx="328612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Account Info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143000" y="3276805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Tenure (months), contract type (Monthly/Annual), payment method, and billing preference.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4714875" y="3014272"/>
            <a:ext cx="428625" cy="428625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680" y="3128572"/>
            <a:ext cx="125016" cy="2000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86375" y="3014272"/>
            <a:ext cx="328612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286375" y="3276805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charges and total charges accumulated. Target: The "Churn" flag (Yes/No).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5491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Analytical Framework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2220367"/>
            <a:ext cx="7429500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2"/>
          <p:cNvSpPr/>
          <p:nvPr/>
        </p:nvSpPr>
        <p:spPr>
          <a:xfrm>
            <a:off x="1114425" y="1934617"/>
            <a:ext cx="628650" cy="628650"/>
          </a:xfrm>
          <a:prstGeom prst="rect">
            <a:avLst/>
          </a:prstGeom>
          <a:solidFill>
            <a:srgbClr val="0891B2"/>
          </a:solidFill>
          <a:ln w="27432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4425" y="1934617"/>
            <a:ext cx="62865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01005" y="2677567"/>
            <a:ext cx="105548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1500" y="3134767"/>
            <a:ext cx="171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Handled missing values in "TotalCharges" and standardized categorical variables for consistency.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09916" y="1934617"/>
            <a:ext cx="628650" cy="628650"/>
          </a:xfrm>
          <a:prstGeom prst="rect">
            <a:avLst/>
          </a:prstGeom>
          <a:solidFill>
            <a:srgbClr val="0891B2"/>
          </a:solidFill>
          <a:ln w="27432">
            <a:solidFill>
              <a:srgbClr val="F3F4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9916" y="1934617"/>
            <a:ext cx="62865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58966" y="2677567"/>
            <a:ext cx="15305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666991" y="3134767"/>
            <a:ext cx="171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Encoded categorical features and normalized numerical scales to prepare data for machine learning.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305406" y="1934617"/>
            <a:ext cx="628650" cy="628650"/>
          </a:xfrm>
          <a:prstGeom prst="rect">
            <a:avLst/>
          </a:prstGeom>
          <a:solidFill>
            <a:srgbClr val="0891B2"/>
          </a:solidFill>
          <a:ln w="27432">
            <a:solidFill>
              <a:srgbClr val="F3F4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5406" y="1934617"/>
            <a:ext cx="62865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63387" y="2677567"/>
            <a:ext cx="15126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Exploratory Analysis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62481" y="3134767"/>
            <a:ext cx="1714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Conducted bivariate analysis to identify correlations between customer attributes and churn.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400897" y="1934617"/>
            <a:ext cx="628650" cy="628650"/>
          </a:xfrm>
          <a:prstGeom prst="rect">
            <a:avLst/>
          </a:prstGeom>
          <a:solidFill>
            <a:srgbClr val="0891B2"/>
          </a:solidFill>
          <a:ln w="27432">
            <a:solidFill>
              <a:srgbClr val="F3F4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0897" y="1934617"/>
            <a:ext cx="62865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82095" y="2677567"/>
            <a:ext cx="14662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Modeling Approach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57972" y="3134767"/>
            <a:ext cx="1714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Evaluated Logistic Regression, Random Forest, and XGBoost to find the most accurate model.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0" y="4214813"/>
            <a:ext cx="9144000" cy="928688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714875"/>
            <a:ext cx="142875" cy="14287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21531" y="4717554"/>
            <a:ext cx="468272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From Raw Data to Actionable Intelligence: A Systematic Approach to Churn Prediction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125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Visualizing the Problem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47688"/>
            <a:ext cx="8572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26.6% Churn Rate Demands Immediate Strategic Action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71500" y="1640607"/>
            <a:ext cx="3786188" cy="2671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4283794"/>
            <a:ext cx="3786188" cy="28575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31" y="1962076"/>
            <a:ext cx="2143125" cy="21431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8158" y="4605263"/>
            <a:ext cx="80651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Current State: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621827" y="4605263"/>
            <a:ext cx="273586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a quarter of the customer base is churning.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751489" y="5098182"/>
            <a:ext cx="8573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Financial Driver: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665945" y="5098182"/>
            <a:ext cx="269174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monthly charges correlate with higher churn.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640607"/>
            <a:ext cx="3786188" cy="2528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60051" y="4490963"/>
            <a:ext cx="7254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Tenure Impact: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742682" y="4490963"/>
            <a:ext cx="282981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Churned customers average 18 months vs 38 for loyal ones.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967111" y="4983882"/>
            <a:ext cx="68571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Service Gap: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709977" y="4983882"/>
            <a:ext cx="286252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Fiber optic users show significantly higher churn rates.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772502"/>
            <a:ext cx="371475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Contract Type Impact</a:t>
            </a:r>
            <a:endParaRPr lang="en-US" sz="2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567244"/>
            <a:ext cx="3714750" cy="25003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8625" y="4353306"/>
            <a:ext cx="3714750" cy="39290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indicates a direct correlation between short-term commitment and high churn propensity.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5000625" y="772502"/>
            <a:ext cx="371475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Primary Churn Drivers</a:t>
            </a:r>
            <a:endParaRPr lang="en-US" sz="2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469017"/>
            <a:ext cx="128588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72088" y="1424369"/>
            <a:ext cx="34432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Contract Risk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5272088" y="1633324"/>
            <a:ext cx="34432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Month-to-month contracts account for </a:t>
            </a:r>
            <a:r>
              <a:rPr lang="en-US" sz="800" b="1" dirty="0">
                <a:solidFill>
                  <a:srgbClr val="EA580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42.7% churn</a:t>
            </a: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while </a:t>
            </a: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two-year contracts remain extremely stable at 2.8%.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2235184"/>
            <a:ext cx="192881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36381" y="2190536"/>
            <a:ext cx="3378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Price Sensitivity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5336381" y="2399491"/>
            <a:ext cx="33789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with higher monthly bills are significantly more likely to leave, especially in early tenure stages.</a:t>
            </a:r>
            <a:endParaRPr lang="en-US" sz="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3001352"/>
            <a:ext cx="171450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314950" y="2956703"/>
            <a:ext cx="34004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Service Gaps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5314950" y="3165658"/>
            <a:ext cx="3400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"Tech Support" and "Online Security" features are strongly associated with higher attrition rates.</a:t>
            </a:r>
            <a:endParaRPr lang="en-US" sz="8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3767519"/>
            <a:ext cx="171450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14950" y="3722870"/>
            <a:ext cx="34004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"Danger Zone"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5314950" y="3931825"/>
            <a:ext cx="3400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</a:t>
            </a:r>
            <a:r>
              <a:rPr lang="en-US" sz="800" b="1" dirty="0">
                <a:solidFill>
                  <a:srgbClr val="EA580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6 months</a:t>
            </a: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a customer's tenure are the most critical </a:t>
            </a: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proactive retention efforts.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72679"/>
            <a:ext cx="3786188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Forecasting Risk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19213"/>
            <a:ext cx="3786188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4919588"/>
            <a:ext cx="37861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Accuracy comparison across validated models</a:t>
            </a:r>
            <a:endParaRPr lang="en-US" sz="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828675"/>
            <a:ext cx="142875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36344" y="785813"/>
            <a:ext cx="35361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Algorithm Performance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5036344" y="994767"/>
            <a:ext cx="3536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and XGBoost outperformed Logistic Regression by capturing complex, non-linear customer behaviors.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551980"/>
            <a:ext cx="142875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036344" y="1509117"/>
            <a:ext cx="35361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Accuracy Metrics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5036344" y="1718072"/>
            <a:ext cx="3536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ensemble model achieved ~80% accuracy, providing a robust foundation for proactive retention strategies.</a:t>
            </a:r>
            <a:endParaRPr lang="en-US" sz="8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2275284"/>
            <a:ext cx="178594" cy="142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072063" y="2232422"/>
            <a:ext cx="35004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Precision vs. Recall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5072063" y="2441377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to minimize false negatives, ensuring high-risk customers are not overlooked by the system.</a:t>
            </a:r>
            <a:endParaRPr lang="en-US" sz="8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2998589"/>
            <a:ext cx="142875" cy="14287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36344" y="2955727"/>
            <a:ext cx="35361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Deployment Ready</a:t>
            </a:r>
            <a:endParaRPr lang="en-US" sz="1000" dirty="0"/>
          </a:p>
        </p:txBody>
      </p:sp>
      <p:sp>
        <p:nvSpPr>
          <p:cNvPr id="17" name="Text 9"/>
          <p:cNvSpPr/>
          <p:nvPr/>
        </p:nvSpPr>
        <p:spPr>
          <a:xfrm>
            <a:off x="5036344" y="3164681"/>
            <a:ext cx="3536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can be integrated into CRM workflows to flag at-risk accounts for immediate intervention.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087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86752"/>
            <a:ext cx="387727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Operational Intelligence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28650" y="888588"/>
            <a:ext cx="387727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0891B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REAL-TIME CUSTOMER HEALTH MONITORING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047" y="931450"/>
            <a:ext cx="100013" cy="1000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33059" y="922520"/>
            <a:ext cx="138231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Updated: June 21, 2026</a:t>
            </a:r>
            <a:endParaRPr lang="en-US" sz="750" dirty="0"/>
          </a:p>
        </p:txBody>
      </p:sp>
      <p:sp>
        <p:nvSpPr>
          <p:cNvPr id="7" name="Shape 3"/>
          <p:cNvSpPr/>
          <p:nvPr/>
        </p:nvSpPr>
        <p:spPr>
          <a:xfrm>
            <a:off x="428625" y="1472589"/>
            <a:ext cx="1964531" cy="103584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8" name="Text 4"/>
          <p:cNvSpPr/>
          <p:nvPr/>
        </p:nvSpPr>
        <p:spPr>
          <a:xfrm>
            <a:off x="607219" y="1651183"/>
            <a:ext cx="178593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CUSTOMERS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607219" y="1844064"/>
            <a:ext cx="1785938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7,043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2536031" y="1472589"/>
            <a:ext cx="1964531" cy="103584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1" name="Text 7"/>
          <p:cNvSpPr/>
          <p:nvPr/>
        </p:nvSpPr>
        <p:spPr>
          <a:xfrm>
            <a:off x="2714625" y="1651183"/>
            <a:ext cx="178593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RATE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2714625" y="1844064"/>
            <a:ext cx="1785938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26.6%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4643438" y="1472589"/>
            <a:ext cx="1964531" cy="103584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4" name="Text 10"/>
          <p:cNvSpPr/>
          <p:nvPr/>
        </p:nvSpPr>
        <p:spPr>
          <a:xfrm>
            <a:off x="4822031" y="1651183"/>
            <a:ext cx="178593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AT RISK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822031" y="1844064"/>
            <a:ext cx="1785938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$139.1K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750844" y="1472589"/>
            <a:ext cx="1964531" cy="1064419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7" name="Shape 13"/>
          <p:cNvSpPr/>
          <p:nvPr/>
        </p:nvSpPr>
        <p:spPr>
          <a:xfrm>
            <a:off x="6750844" y="2508433"/>
            <a:ext cx="1964531" cy="28575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4"/>
          <p:cNvSpPr/>
          <p:nvPr/>
        </p:nvSpPr>
        <p:spPr>
          <a:xfrm>
            <a:off x="6929438" y="1651183"/>
            <a:ext cx="178593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 SEGMENTS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6929438" y="1844064"/>
            <a:ext cx="1785938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28625" y="2722745"/>
            <a:ext cx="5429250" cy="2657475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952238"/>
            <a:ext cx="142875" cy="1428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7250" y="2937058"/>
            <a:ext cx="26235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Churn Probability by Contract Type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253169"/>
            <a:ext cx="4986338" cy="178593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000750" y="2722745"/>
            <a:ext cx="2714625" cy="2657475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3" y="2952238"/>
            <a:ext cx="178594" cy="1428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65094" y="2937058"/>
            <a:ext cx="13162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 Risk Profiles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6500813" y="3380863"/>
            <a:ext cx="116264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Fiber Optic / Monthly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7865269" y="3360325"/>
            <a:ext cx="635794" cy="17859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9" name="Text 22"/>
          <p:cNvSpPr/>
          <p:nvPr/>
        </p:nvSpPr>
        <p:spPr>
          <a:xfrm>
            <a:off x="7865269" y="3360325"/>
            <a:ext cx="635794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CRITICAL</a:t>
            </a:r>
            <a:endParaRPr lang="en-US" sz="700" dirty="0"/>
          </a:p>
        </p:txBody>
      </p:sp>
      <p:sp>
        <p:nvSpPr>
          <p:cNvPr id="30" name="Text 23"/>
          <p:cNvSpPr/>
          <p:nvPr/>
        </p:nvSpPr>
        <p:spPr>
          <a:xfrm>
            <a:off x="6500813" y="3673757"/>
            <a:ext cx="12787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New Customers (&lt; 6m)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8076009" y="3653219"/>
            <a:ext cx="425053" cy="17859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2" name="Text 25"/>
          <p:cNvSpPr/>
          <p:nvPr/>
        </p:nvSpPr>
        <p:spPr>
          <a:xfrm>
            <a:off x="8076009" y="3653219"/>
            <a:ext cx="425053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</a:t>
            </a:r>
            <a:endParaRPr lang="en-US" sz="700" dirty="0"/>
          </a:p>
        </p:txBody>
      </p:sp>
      <p:sp>
        <p:nvSpPr>
          <p:cNvPr id="33" name="Text 26"/>
          <p:cNvSpPr/>
          <p:nvPr/>
        </p:nvSpPr>
        <p:spPr>
          <a:xfrm>
            <a:off x="6500813" y="3966651"/>
            <a:ext cx="128408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Electronic Check Users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7822406" y="3946113"/>
            <a:ext cx="678656" cy="17859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5" name="Text 28"/>
          <p:cNvSpPr/>
          <p:nvPr/>
        </p:nvSpPr>
        <p:spPr>
          <a:xfrm>
            <a:off x="7822406" y="3946113"/>
            <a:ext cx="678656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ELEVATED</a:t>
            </a:r>
            <a:endParaRPr lang="en-US" sz="700" dirty="0"/>
          </a:p>
        </p:txBody>
      </p:sp>
      <p:sp>
        <p:nvSpPr>
          <p:cNvPr id="36" name="Text 29"/>
          <p:cNvSpPr/>
          <p:nvPr/>
        </p:nvSpPr>
        <p:spPr>
          <a:xfrm>
            <a:off x="6500813" y="4259545"/>
            <a:ext cx="119657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 Tech Support Plan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7909917" y="4239006"/>
            <a:ext cx="591145" cy="17859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8" name="Text 31"/>
          <p:cNvSpPr/>
          <p:nvPr/>
        </p:nvSpPr>
        <p:spPr>
          <a:xfrm>
            <a:off x="7909917" y="4239006"/>
            <a:ext cx="591145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MEDIUM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6215063" y="4560475"/>
            <a:ext cx="2286000" cy="235744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*Based on XGBoost Prediction Model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5491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Action Plan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791742"/>
            <a:ext cx="500063" cy="500063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44" y="1927473"/>
            <a:ext cx="25717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50156" y="1791742"/>
            <a:ext cx="317896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Incentivize Long-Term Contracts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250156" y="2068562"/>
            <a:ext cx="3178969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tiered discounts or value-added services to transition month-to-month customers to annual plans, reducing churn by up to 40%.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714875" y="1791742"/>
            <a:ext cx="500063" cy="500063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181" y="1927473"/>
            <a:ext cx="17145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3531" y="1791742"/>
            <a:ext cx="317896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Enhance Fiber Optic Value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5393531" y="2068562"/>
            <a:ext cx="3178969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 service quality issues for fiber optic users. Justify premium pricing through improved reliability and exclusive content bundles.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571500" y="3080100"/>
            <a:ext cx="500063" cy="500063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3215832"/>
            <a:ext cx="28575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50156" y="3080100"/>
            <a:ext cx="317896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Targeted Onboarding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1250156" y="3356921"/>
            <a:ext cx="3178969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high-touch engagement during the critical first 6 months. Proactive support calls can significantly reduce early-stage attrition.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4714875" y="3080100"/>
            <a:ext cx="500063" cy="500063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606" y="3215832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93531" y="3080100"/>
            <a:ext cx="317896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Bundle Security Services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5393531" y="3356921"/>
            <a:ext cx="3178969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"Online Security" and "Tech Support" into standard packages. These "sticky" services are proven to increase customer lifetime value.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0" y="4393406"/>
            <a:ext cx="9144000" cy="75009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93456"/>
            <a:ext cx="96441" cy="1285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75097" y="4780062"/>
            <a:ext cx="555605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Data-Driven Retention: Transforming Predictive Insights into Sustainable Revenue Growth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71475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253868"/>
            <a:ext cx="2857500" cy="1320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0891B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Driving</a:t>
            </a:r>
            <a:r>
              <a:rPr lang="en-US" sz="285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850" b="1" dirty="0">
                <a:solidFill>
                  <a:srgbClr val="0891B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Business</a:t>
            </a:r>
            <a:r>
              <a:rPr lang="en-US" sz="285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850" b="1" dirty="0">
                <a:solidFill>
                  <a:srgbClr val="0891B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Value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571500" y="2859732"/>
            <a:ext cx="2857500" cy="6858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raw customer data into a strategic roadmap for sustainable growth and retention.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286250" y="963402"/>
            <a:ext cx="428625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Impact of Analysis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4286250" y="1686706"/>
            <a:ext cx="238897" cy="35718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317" y="1793863"/>
            <a:ext cx="160734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3741" y="1686706"/>
            <a:ext cx="386875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Strategic Roadmap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703741" y="1934952"/>
            <a:ext cx="386875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 clear, data-driven path for reducing churn and protecting annual recurring revenue (ARR).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286250" y="2585033"/>
            <a:ext cx="223493" cy="35718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545" y="2692189"/>
            <a:ext cx="142875" cy="1428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88337" y="2585033"/>
            <a:ext cx="3884163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Portfolio Value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688337" y="2833278"/>
            <a:ext cx="3884163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Demonstrates end-to-end data science proficiency—from complex data cleaning to executive-level insights.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286250" y="3483359"/>
            <a:ext cx="220731" cy="35718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78" y="3590516"/>
            <a:ext cx="142875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85574" y="3483359"/>
            <a:ext cx="3886926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685574" y="3731605"/>
            <a:ext cx="3886926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for integrating customer sentiment analysis and competitor pricing data for deeper predictive power.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57513" y="1171017"/>
            <a:ext cx="3228975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150" b="1" spc="-2" kern="0" dirty="0">
                <a:solidFill>
                  <a:srgbClr val="0891B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Thank You.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2063651" y="2181858"/>
            <a:ext cx="501669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for discussions on data-driven business transformation.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2428875" y="2960526"/>
            <a:ext cx="4286250" cy="139481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28875" y="2960526"/>
            <a:ext cx="4286250" cy="7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4"/>
          <p:cNvSpPr/>
          <p:nvPr/>
        </p:nvSpPr>
        <p:spPr>
          <a:xfrm>
            <a:off x="2428875" y="3249848"/>
            <a:ext cx="42862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Khusi Khanra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428875" y="3599892"/>
            <a:ext cx="42862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spc="2" kern="0" dirty="0">
                <a:solidFill>
                  <a:srgbClr val="0891B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BUSINESS INTELLIGENCE &amp; AUTOMATION CONSULTANT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5" y="4110670"/>
            <a:ext cx="166092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80692" y="4118707"/>
            <a:ext cx="7393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khusikhanra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820" y="4110670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62995" y="4041018"/>
            <a:ext cx="1027668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via GitHub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413" y="4110670"/>
            <a:ext cx="150019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12157" y="4041018"/>
            <a:ext cx="1202968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/khusikhanra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2026-06-21T01:24:10Z</dcterms:created>
  <dcterms:modified xsi:type="dcterms:W3CDTF">2026-06-21T01:24:10Z</dcterms:modified>
</cp:coreProperties>
</file>